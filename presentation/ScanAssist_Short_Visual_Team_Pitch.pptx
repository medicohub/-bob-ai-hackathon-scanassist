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ScanAssist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3E2F2"/>
                </a:solidFill>
              </a:rPr>
              <a:t>AI technical support for CT &amp; MRI technologists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When the engineer is unavailable,
help the operator handle simple, approved issues safely.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1417320" cy="347472"/>
          </a:xfrm>
          <a:prstGeom prst="roundRect">
            <a:avLst/>
          </a:prstGeom>
          <a:solidFill>
            <a:srgbClr val="378B64"/>
          </a:solidFill>
          <a:ln>
            <a:solidFill>
              <a:srgbClr val="37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123944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SAFE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069080"/>
            <a:ext cx="1691640" cy="347472"/>
          </a:xfrm>
          <a:prstGeom prst="roundRect">
            <a:avLst/>
          </a:prstGeom>
          <a:solidFill>
            <a:srgbClr val="3069AD"/>
          </a:solidFill>
          <a:ln>
            <a:solidFill>
              <a:srgbClr val="30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4123944"/>
            <a:ext cx="1545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HUMAN IN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069080"/>
            <a:ext cx="1600200" cy="347472"/>
          </a:xfrm>
          <a:prstGeom prst="roundRect">
            <a:avLst/>
          </a:prstGeom>
          <a:solidFill>
            <a:srgbClr val="DD8B39"/>
          </a:solidFill>
          <a:ln>
            <a:solidFill>
              <a:srgbClr val="DD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4123944"/>
            <a:ext cx="1453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STUDENT 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417320"/>
            <a:ext cx="3374136" cy="2386584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2148" y="1623060"/>
            <a:ext cx="2180844" cy="1851660"/>
          </a:xfrm>
          <a:prstGeom prst="ellipse">
            <a:avLst/>
          </a:prstGeom>
          <a:solidFill>
            <a:srgbClr val="EBF0F5"/>
          </a:solidFill>
          <a:ln>
            <a:solidFill>
              <a:srgbClr val="30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11235" y="2009851"/>
            <a:ext cx="1234440" cy="1069848"/>
          </a:xfrm>
          <a:prstGeom prst="ellipse">
            <a:avLst/>
          </a:prstGeom>
          <a:solidFill>
            <a:srgbClr val="FFFFFF"/>
          </a:solidFill>
          <a:ln>
            <a:solidFill>
              <a:srgbClr val="4C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7888" y="3104388"/>
            <a:ext cx="2304288" cy="181051"/>
          </a:xfrm>
          <a:prstGeom prst="roundRect">
            <a:avLst/>
          </a:prstGeom>
          <a:solidFill>
            <a:srgbClr val="BE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9640" y="3429000"/>
            <a:ext cx="2699308" cy="1909267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11742" y="3593592"/>
            <a:ext cx="1678838" cy="1481328"/>
          </a:xfrm>
          <a:prstGeom prst="ellipse">
            <a:avLst/>
          </a:prstGeom>
          <a:solidFill>
            <a:srgbClr val="E2EEF8"/>
          </a:solidFill>
          <a:ln>
            <a:solidFill>
              <a:srgbClr val="30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7012" y="3903024"/>
            <a:ext cx="934882" cy="855878"/>
          </a:xfrm>
          <a:prstGeom prst="ellipse">
            <a:avLst/>
          </a:prstGeom>
          <a:solidFill>
            <a:srgbClr val="FFFFFF"/>
          </a:solidFill>
          <a:ln>
            <a:solidFill>
              <a:srgbClr val="4C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2171" y="4745736"/>
            <a:ext cx="1777593" cy="164592"/>
          </a:xfrm>
          <a:prstGeom prst="roundRect">
            <a:avLst/>
          </a:prstGeom>
          <a:solidFill>
            <a:srgbClr val="BEC6CF"/>
          </a:solidFill>
          <a:ln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32212" y="4627229"/>
            <a:ext cx="757123" cy="118506"/>
          </a:xfrm>
          <a:prstGeom prst="round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5897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CDDC"/>
                </a:solidFill>
              </a:rPr>
              <a:t>CT  •  MRI  •  Operator  →  AI  → 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438"/>
                </a:solidFill>
              </a:rPr>
              <a:t>The real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</a:rPr>
              <a:t>A small machine issue can stop the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999232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" y="1508760"/>
            <a:ext cx="1938528" cy="1645920"/>
          </a:xfrm>
          <a:prstGeom prst="ellipse">
            <a:avLst/>
          </a:prstGeom>
          <a:solidFill>
            <a:srgbClr val="EBF0F5"/>
          </a:solidFill>
          <a:ln>
            <a:solidFill>
              <a:srgbClr val="30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5102" y="1852574"/>
            <a:ext cx="1097280" cy="950976"/>
          </a:xfrm>
          <a:prstGeom prst="ellipse">
            <a:avLst/>
          </a:prstGeom>
          <a:solidFill>
            <a:srgbClr val="FFFFFF"/>
          </a:solidFill>
          <a:ln>
            <a:solidFill>
              <a:srgbClr val="4C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71016" y="2825496"/>
            <a:ext cx="2048255" cy="160934"/>
          </a:xfrm>
          <a:prstGeom prst="roundRect">
            <a:avLst/>
          </a:prstGeom>
          <a:solidFill>
            <a:srgbClr val="BE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325880"/>
            <a:ext cx="2999232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11896" y="1508760"/>
            <a:ext cx="1865376" cy="1645920"/>
          </a:xfrm>
          <a:prstGeom prst="ellipse">
            <a:avLst/>
          </a:prstGeom>
          <a:solidFill>
            <a:srgbClr val="E2EEF8"/>
          </a:solidFill>
          <a:ln>
            <a:solidFill>
              <a:srgbClr val="30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28862" y="1852574"/>
            <a:ext cx="1038758" cy="950976"/>
          </a:xfrm>
          <a:prstGeom prst="ellipse">
            <a:avLst/>
          </a:prstGeom>
          <a:solidFill>
            <a:srgbClr val="FFFFFF"/>
          </a:solidFill>
          <a:ln>
            <a:solidFill>
              <a:srgbClr val="4C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67928" y="2788920"/>
            <a:ext cx="1975104" cy="182880"/>
          </a:xfrm>
          <a:prstGeom prst="roundRect">
            <a:avLst/>
          </a:prstGeom>
          <a:solidFill>
            <a:srgbClr val="BEC6CF"/>
          </a:solidFill>
          <a:ln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45752" y="2657246"/>
            <a:ext cx="841247" cy="131673"/>
          </a:xfrm>
          <a:prstGeom prst="round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1508760"/>
            <a:ext cx="39319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D8B39"/>
                </a:solidFill>
              </a:rPr>
              <a:t>🌙 NIGHT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146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A313A"/>
                </a:solidFill>
              </a:rPr>
              <a:t>Technologist sees a warning
↓
Engineer is not immediately available
↓
Manual search / phone call / delay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2438"/>
                </a:solidFill>
              </a:rPr>
              <a:t>The information may already exist — but finding the right step quickly is the problem.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438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</a:rPr>
              <a:t>A first layer of support — not an AI engineer.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3429000"/>
          </a:xfrm>
          <a:prstGeom prst="roundRect">
            <a:avLst/>
          </a:prstGeom>
          <a:solidFill>
            <a:srgbClr val="F6F8FB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429000"/>
          </a:xfrm>
          <a:prstGeom prst="rect">
            <a:avLst/>
          </a:prstGeom>
          <a:solidFill>
            <a:srgbClr val="30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438"/>
                </a:solidFill>
              </a:rPr>
              <a:t>1  DESCRIBE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A313A"/>
                </a:solidFill>
              </a:rPr>
              <a:t>Enter machine + model + error
in simple words.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383280" cy="3429000"/>
          </a:xfrm>
          <a:prstGeom prst="roundRect">
            <a:avLst/>
          </a:prstGeom>
          <a:solidFill>
            <a:srgbClr val="F6F8FB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3429000"/>
          </a:xfrm>
          <a:prstGeom prst="rect">
            <a:avLst/>
          </a:prstGeom>
          <a:solidFill>
            <a:srgbClr val="37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438"/>
                </a:solidFill>
              </a:rPr>
              <a:t>2 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A313A"/>
                </a:solidFill>
              </a:rPr>
              <a:t>AI finds the verified procedure
and gives safe operator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17320"/>
            <a:ext cx="3383280" cy="3429000"/>
          </a:xfrm>
          <a:prstGeom prst="roundRect">
            <a:avLst/>
          </a:prstGeom>
          <a:solidFill>
            <a:srgbClr val="F6F8FB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17320"/>
            <a:ext cx="73152" cy="34290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438"/>
                </a:solidFill>
              </a:rPr>
              <a:t>3  ESCALATE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423160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A313A"/>
                </a:solidFill>
              </a:rPr>
              <a:t>If it is outside the safe scope,
AI stops and contacts support.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578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2438"/>
                </a:solidFill>
              </a:rPr>
              <a:t>Simple idea:  FIND THE RIGHT INFORMATION → GUIDE → KNOW WHEN TO STOP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438"/>
                </a:solidFill>
              </a:rPr>
              <a:t>Example: 2:00 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</a:rPr>
              <a:t>What the technologist sees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983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600200"/>
            <a:ext cx="1143000" cy="347472"/>
          </a:xfrm>
          <a:prstGeom prst="roundRect">
            <a:avLst/>
          </a:prstGeom>
          <a:solidFill>
            <a:srgbClr val="3069AD"/>
          </a:solidFill>
          <a:ln>
            <a:solidFill>
              <a:srgbClr val="30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655064"/>
            <a:ext cx="996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438"/>
                </a:solidFill>
              </a:rPr>
              <a:t>MRI • Model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A313A"/>
                </a:solidFill>
              </a:rPr>
              <a:t>“Cooling-system warning appeared.”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A313A"/>
                </a:solidFill>
              </a:rPr>
              <a:t>“What can I safely check as an operator?”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971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069AD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325880"/>
            <a:ext cx="4754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0" y="1600200"/>
            <a:ext cx="1325880" cy="347472"/>
          </a:xfrm>
          <a:prstGeom prst="roundRect">
            <a:avLst/>
          </a:prstGeom>
          <a:solidFill>
            <a:srgbClr val="378B64"/>
          </a:solidFill>
          <a:ln>
            <a:solidFill>
              <a:srgbClr val="37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1655064"/>
            <a:ext cx="1179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HELP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14884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A313A"/>
                </a:solidFill>
              </a:rPr>
              <a:t>• Finds the correct approved procedure
• Gives only permitted checks
• Asks: “Did it work?”
• If not → escalates
• Creates a short engineer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5074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E4646"/>
                </a:solidFill>
              </a:rPr>
              <a:t>No invented settings. No bypasses.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438"/>
                </a:solidFill>
              </a:rPr>
              <a:t>The safety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</a:rPr>
              <a:t>The strongest part of the idea is knowing when AI must stop.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480560"/>
          </a:xfrm>
          <a:prstGeom prst="roundRect">
            <a:avLst/>
          </a:prstGeom>
          <a:solidFill>
            <a:srgbClr val="F4FAF7"/>
          </a:solidFill>
          <a:ln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8B64"/>
                </a:solidFill>
              </a:rPr>
              <a:t>🟢 AI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A313A"/>
                </a:solidFill>
              </a:rPr>
              <a:t>✓ Find approved instructions
✓ Explain them simply
✓ Guide basic operator checks
✓ Track what was tried
✓ Prepare an engineer handover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212080" cy="4480560"/>
          </a:xfrm>
          <a:prstGeom prst="roundRect">
            <a:avLst/>
          </a:prstGeom>
          <a:solidFill>
            <a:srgbClr val="FCF5F5"/>
          </a:solidFill>
          <a:ln>
            <a:solidFill>
              <a:srgbClr val="EB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E4646"/>
                </a:solidFill>
              </a:rPr>
              <a:t>🔴 AI MUST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A313A"/>
                </a:solidFill>
              </a:rPr>
              <a:t>✕ Invent procedures
✕ Change machine settings on its own
✕ Bypass safety systems
✕ Tell the operator to continue a risky scan
✕ Replace an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438"/>
                </a:solidFill>
              </a:rPr>
              <a:t>Why not just use ChatGPT or a manual?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BE4646"/>
                </a:solidFill>
              </a:rPr>
              <a:t>Generic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A313A"/>
                </a:solidFill>
              </a:rPr>
              <a:t>Broad answers
May guess
No machine-specific context
No safety workflow
No engineer handover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971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6E78"/>
                </a:solidFill>
              </a:rPr>
              <a:t>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417320"/>
            <a:ext cx="66751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7373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78B64"/>
                </a:solidFill>
              </a:rPr>
              <a:t>ScanAssist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423160"/>
            <a:ext cx="5852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A313A"/>
                </a:solidFill>
              </a:rPr>
              <a:t>✓ Model + error specific
✓ Uses a controlled, verified knowledge base
✓ Shows the source procedure
✓ Guides step-by-step
✓ Escalates when unsure
✓ Creates a service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438"/>
                </a:solidFill>
              </a:rPr>
              <a:t>What we actually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</a:rPr>
              <a:t>Small enough to finish. Strong enough to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423160" cy="3429000"/>
          </a:xfrm>
          <a:prstGeom prst="roundRect">
            <a:avLst/>
          </a:prstGeom>
          <a:solidFill>
            <a:srgbClr val="F6F8FB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2438"/>
                </a:solidFill>
              </a:rPr>
              <a:t>SCREEN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A313A"/>
                </a:solidFill>
              </a:rPr>
              <a:t>Technologist enters
machine + error.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4069080"/>
            <a:ext cx="960120" cy="411480"/>
          </a:xfrm>
          <a:prstGeom prst="roundRect">
            <a:avLst/>
          </a:prstGeom>
          <a:solidFill>
            <a:srgbClr val="3069AD"/>
          </a:solidFill>
          <a:ln>
            <a:solidFill>
              <a:srgbClr val="30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4151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508760"/>
            <a:ext cx="2423160" cy="3429000"/>
          </a:xfrm>
          <a:prstGeom prst="roundRect">
            <a:avLst/>
          </a:prstGeom>
          <a:solidFill>
            <a:srgbClr val="F6F8FB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2438"/>
                </a:solidFill>
              </a:rPr>
              <a:t>SCREEN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56032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A313A"/>
                </a:solidFill>
              </a:rPr>
              <a:t>AI retrieves the
relevant procedure.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069080"/>
            <a:ext cx="960120" cy="411480"/>
          </a:xfrm>
          <a:prstGeom prst="roundRect">
            <a:avLst/>
          </a:prstGeom>
          <a:solidFill>
            <a:srgbClr val="378B64"/>
          </a:solidFill>
          <a:ln>
            <a:solidFill>
              <a:srgbClr val="37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4151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1508760"/>
            <a:ext cx="2423160" cy="3429000"/>
          </a:xfrm>
          <a:prstGeom prst="roundRect">
            <a:avLst/>
          </a:prstGeom>
          <a:solidFill>
            <a:srgbClr val="F6F8FB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783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2438"/>
                </a:solidFill>
              </a:rPr>
              <a:t>SCREEN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56032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A313A"/>
                </a:solidFill>
              </a:rPr>
              <a:t>Guided checks +
Yes / No response.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80" y="4069080"/>
            <a:ext cx="960120" cy="411480"/>
          </a:xfrm>
          <a:prstGeom prst="roundRect">
            <a:avLst/>
          </a:prstGeom>
          <a:solidFill>
            <a:srgbClr val="DD8B39"/>
          </a:solidFill>
          <a:ln>
            <a:solidFill>
              <a:srgbClr val="DD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2" y="4151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1508760"/>
            <a:ext cx="2423160" cy="3429000"/>
          </a:xfrm>
          <a:prstGeom prst="roundRect">
            <a:avLst/>
          </a:prstGeom>
          <a:solidFill>
            <a:srgbClr val="F6F8FB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9" y="1783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2438"/>
                </a:solidFill>
              </a:rPr>
              <a:t>SCREEN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9" y="256032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A313A"/>
                </a:solidFill>
              </a:rPr>
              <a:t>Engineer report
if unresolved.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81360" y="4069080"/>
            <a:ext cx="960120" cy="411480"/>
          </a:xfrm>
          <a:prstGeom prst="roundRect">
            <a:avLst/>
          </a:prstGeom>
          <a:solidFill>
            <a:srgbClr val="BE4646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54512" y="4151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4068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46E78"/>
                </a:solidFill>
              </a:rPr>
              <a:t>Use simulated errors + a controlled document set. No real scanner connection needed.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438"/>
                </a:solidFill>
              </a:rPr>
              <a:t>What problem does it solve?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2438"/>
                </a:solidFill>
              </a:rPr>
              <a:t>For the technologist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A313A"/>
                </a:solidFill>
              </a:rPr>
              <a:t>Less searching • faster guidance • less confusion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55448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874519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2438"/>
                </a:solidFill>
              </a:rPr>
              <a:t>For the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74320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A313A"/>
                </a:solidFill>
              </a:rPr>
              <a:t>Clearer problem report • knows what was already tried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55448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874519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2438"/>
                </a:solidFill>
              </a:rPr>
              <a:t>For the hospital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4320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A313A"/>
                </a:solidFill>
              </a:rPr>
              <a:t>Less avoidable delay • better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2438"/>
                </a:solidFill>
              </a:rPr>
              <a:t>The goal is not to replace engineers — it is to reduce the gap until they are available.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438"/>
                </a:solidFill>
              </a:rPr>
              <a:t>Challenges — and our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846320" cy="868680"/>
          </a:xfrm>
          <a:prstGeom prst="roundRect">
            <a:avLst/>
          </a:prstGeom>
          <a:solidFill>
            <a:srgbClr val="FCF5F5"/>
          </a:solidFill>
          <a:ln>
            <a:solidFill>
              <a:srgbClr val="EB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E4646"/>
                </a:solidFill>
              </a:rPr>
              <a:t>Wrong AI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</a:rPr>
              <a:t>→  Use verified documents + source shown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39"/>
            <a:ext cx="4846320" cy="868680"/>
          </a:xfrm>
          <a:prstGeom prst="roundRect">
            <a:avLst/>
          </a:prstGeom>
          <a:solidFill>
            <a:srgbClr val="FCF5F5"/>
          </a:solidFill>
          <a:ln>
            <a:solidFill>
              <a:srgbClr val="EB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E4646"/>
                </a:solidFill>
              </a:rPr>
              <a:t>Different machine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560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</a:rPr>
              <a:t>→  Start with ONE modality + ONE model in MVP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8999"/>
            <a:ext cx="4846320" cy="868680"/>
          </a:xfrm>
          <a:prstGeom prst="roundRect">
            <a:avLst/>
          </a:prstGeom>
          <a:solidFill>
            <a:srgbClr val="FCF5F5"/>
          </a:solidFill>
          <a:ln>
            <a:solidFill>
              <a:srgbClr val="EB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1187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E4646"/>
                </a:solidFill>
              </a:rPr>
              <a:t>Safety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61187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</a:rPr>
              <a:t>→  Only approved operator steps + automatic escalation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59"/>
            <a:ext cx="4846320" cy="868680"/>
          </a:xfrm>
          <a:prstGeom prst="roundRect">
            <a:avLst/>
          </a:prstGeom>
          <a:solidFill>
            <a:srgbClr val="FCF5F5"/>
          </a:solidFill>
          <a:ln>
            <a:solidFill>
              <a:srgbClr val="EB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E4646"/>
                </a:solidFill>
              </a:rPr>
              <a:t>No real machine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663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</a:rPr>
              <a:t>→  Use simulated errors and demo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Why we think this is worth pitching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2E1F2"/>
                </a:solidFill>
              </a:rPr>
              <a:t>A clear problem • a focused AI role • a working student-level prototype • safety built into the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154680"/>
            <a:ext cx="8503920" cy="1965960"/>
          </a:xfrm>
          <a:prstGeom prst="roundRect">
            <a:avLst/>
          </a:prstGeom>
          <a:solidFill>
            <a:srgbClr val="23354E"/>
          </a:solidFill>
          <a:ln>
            <a:solidFill>
              <a:srgbClr val="46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40" y="352044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</a:rPr>
              <a:t>“We are not building an AI engineer.”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420624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“We are building the first layer of technical support between the operator and the engineer.”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ECDDC"/>
                </a:solidFill>
              </a:rPr>
              <a:t>NEXT STEP: Ask 2–3 real CT/MRI technologists for their most common off-hours technical problems.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6E78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